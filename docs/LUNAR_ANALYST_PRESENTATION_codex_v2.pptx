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52529"/>
            <a:ext cx="7772400" cy="1470025"/>
          </a:xfrm>
        </p:spPr>
        <p:txBody>
          <a:bodyPr/>
          <a:lstStyle/>
          <a:p>
            <a:r>
              <a:rPr dirty="0"/>
              <a:t>Lunar Analyst for Lunar South Pole Mission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7320" y="2795416"/>
            <a:ext cx="6400800" cy="1752600"/>
          </a:xfrm>
        </p:spPr>
        <p:txBody>
          <a:bodyPr/>
          <a:lstStyle/>
          <a:p>
            <a:r>
              <a:rPr dirty="0"/>
              <a:t>Users, Workflow, and Technical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06125"/>
            <a:ext cx="74980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Lunar Analyst supports early mission design decisions.</a:t>
            </a:r>
          </a:p>
          <a:p>
            <a:pPr>
              <a:defRPr sz="1800"/>
            </a:pPr>
            <a:r>
              <a:rPr dirty="0"/>
              <a:t>It combines mapping, terrain/lighting analysis, and guided tooling in one workspace.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7498079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IMAGE PLACEHOLDER: Lunar south-pole context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Intended Users and Decision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Lunar scientists evaluating science opportunity and environmental constraints.</a:t>
            </a:r>
          </a:p>
          <a:p>
            <a:pPr>
              <a:defRPr sz="2000"/>
            </a:pPr>
            <a:r>
              <a:t>Mission planners comparing candidate sites, traverses, and timeline windows.</a:t>
            </a:r>
          </a:p>
          <a:p>
            <a:pPr>
              <a:defRPr sz="2000"/>
            </a:pPr>
            <a:r>
              <a:t>Analysis teams preparing evidence for mission reviews.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663440"/>
            <a:ext cx="2377440" cy="914400"/>
          </a:xfrm>
          <a:prstGeom prst="roundRect">
            <a:avLst/>
          </a:prstGeom>
          <a:solidFill>
            <a:srgbClr val="E6F0FF"/>
          </a:solidFill>
          <a:ln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Lunar</a:t>
            </a:r>
          </a:p>
          <a:p>
            <a:r>
              <a:rPr sz="2000" b="1">
                <a:solidFill>
                  <a:schemeClr val="tx1"/>
                </a:solidFill>
              </a:rPr>
              <a:t>Scientists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663440"/>
            <a:ext cx="2377440" cy="914400"/>
          </a:xfrm>
          <a:prstGeom prst="roundRect">
            <a:avLst/>
          </a:prstGeom>
          <a:solidFill>
            <a:srgbClr val="E6F0FF"/>
          </a:solidFill>
          <a:ln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Mission</a:t>
            </a:r>
          </a:p>
          <a:p>
            <a:r>
              <a:rPr sz="2000" b="1">
                <a:solidFill>
                  <a:schemeClr val="tx1"/>
                </a:solidFill>
              </a:rPr>
              <a:t>Planners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4663440"/>
            <a:ext cx="2377440" cy="914400"/>
          </a:xfrm>
          <a:prstGeom prst="roundRect">
            <a:avLst/>
          </a:prstGeom>
          <a:solidFill>
            <a:srgbClr val="E6F0FF"/>
          </a:solidFill>
          <a:ln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Analysis</a:t>
            </a:r>
          </a:p>
          <a:p>
            <a:r>
              <a:rPr sz="2000" b="1">
                <a:solidFill>
                  <a:schemeClr val="tx1"/>
                </a:solidFill>
              </a:rPr>
              <a:t>Teams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852160"/>
            <a:ext cx="1920240" cy="731520"/>
          </a:xfrm>
          <a:prstGeom prst="roundRect">
            <a:avLst/>
          </a:prstGeom>
          <a:solidFill>
            <a:srgbClr val="F5F5E6"/>
          </a:solidFill>
          <a:ln>
            <a:solidFill>
              <a:srgbClr val="8C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0">
                <a:solidFill>
                  <a:schemeClr val="tx1"/>
                </a:solidFill>
              </a:rPr>
              <a:t>Science</a:t>
            </a:r>
          </a:p>
          <a:p>
            <a:r>
              <a:rPr b="0">
                <a:solidFill>
                  <a:schemeClr val="tx1"/>
                </a:solidFill>
              </a:rPr>
              <a:t>Priorities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5852160"/>
            <a:ext cx="1920240" cy="731520"/>
          </a:xfrm>
          <a:prstGeom prst="roundRect">
            <a:avLst/>
          </a:prstGeom>
          <a:solidFill>
            <a:srgbClr val="F5F5E6"/>
          </a:solidFill>
          <a:ln>
            <a:solidFill>
              <a:srgbClr val="8C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0">
                <a:solidFill>
                  <a:schemeClr val="tx1"/>
                </a:solidFill>
              </a:rPr>
              <a:t>Site/Traverse</a:t>
            </a:r>
          </a:p>
          <a:p>
            <a:r>
              <a:rPr b="0">
                <a:solidFill>
                  <a:schemeClr val="tx1"/>
                </a:solidFill>
              </a:rPr>
              <a:t>Tradeoffs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852160"/>
            <a:ext cx="1920240" cy="731520"/>
          </a:xfrm>
          <a:prstGeom prst="roundRect">
            <a:avLst/>
          </a:prstGeom>
          <a:solidFill>
            <a:srgbClr val="F5F5E6"/>
          </a:solidFill>
          <a:ln>
            <a:solidFill>
              <a:srgbClr val="8C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0">
                <a:solidFill>
                  <a:schemeClr val="tx1"/>
                </a:solidFill>
              </a:rPr>
              <a:t>Review</a:t>
            </a:r>
          </a:p>
          <a:p>
            <a:r>
              <a:rPr b="0">
                <a:solidFill>
                  <a:schemeClr val="tx1"/>
                </a:solidFill>
              </a:rPr>
              <a:t>Evidence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5577840"/>
            <a:ext cx="182880" cy="27432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5577840"/>
            <a:ext cx="182880" cy="27432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0880" y="5577840"/>
            <a:ext cx="182880" cy="27432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Evaluating Candidate Landing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Team starts with a south-pole scenario and a small set of candidate regions.</a:t>
            </a:r>
          </a:p>
          <a:p>
            <a:pPr>
              <a:defRPr sz="2000"/>
            </a:pPr>
            <a:r>
              <a:t>Goal: identify zones balancing safety, illumination access, and Earth visibility.</a:t>
            </a:r>
          </a:p>
          <a:p>
            <a:pPr>
              <a:defRPr sz="2000"/>
            </a:pPr>
            <a:r>
              <a:t>Inputs: DEM, reference layers, and mission constraints.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572000"/>
            <a:ext cx="78638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/>
            </a:pPr>
            <a:r>
              <a:t>IMAGE PLACEHOLDER: Candidate zones overlaid on south-pole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Team Works Through the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Load scenario and relevant layers.</a:t>
            </a:r>
          </a:p>
          <a:p>
            <a:pPr>
              <a:defRPr sz="2000"/>
            </a:pPr>
            <a:r>
              <a:t>Generate terrain and lighting outputs.</a:t>
            </a:r>
          </a:p>
          <a:p>
            <a:pPr>
              <a:defRPr sz="2000"/>
            </a:pPr>
            <a:r>
              <a:t>Compare candidate regions with consistent map views and derived layers.</a:t>
            </a:r>
          </a:p>
          <a:p>
            <a:pPr>
              <a:defRPr sz="2000"/>
            </a:pPr>
            <a:r>
              <a:t>Iterate quickly with guided tool runs and map calculations.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937760"/>
            <a:ext cx="1737360" cy="914400"/>
          </a:xfrm>
          <a:prstGeom prst="roundRect">
            <a:avLst/>
          </a:prstGeom>
          <a:solidFill>
            <a:srgbClr val="E6F0FF"/>
          </a:solidFill>
          <a:ln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 dirty="0">
                <a:solidFill>
                  <a:schemeClr val="tx1"/>
                </a:solidFill>
              </a:rPr>
              <a:t>Load</a:t>
            </a:r>
          </a:p>
          <a:p>
            <a:r>
              <a:rPr sz="1600" b="1" dirty="0">
                <a:solidFill>
                  <a:schemeClr val="tx1"/>
                </a:solidFill>
              </a:rPr>
              <a:t>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4937760"/>
            <a:ext cx="1737360" cy="914400"/>
          </a:xfrm>
          <a:prstGeom prst="roundRect">
            <a:avLst/>
          </a:prstGeom>
          <a:solidFill>
            <a:srgbClr val="E6F0FF"/>
          </a:solidFill>
          <a:ln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 dirty="0">
                <a:solidFill>
                  <a:schemeClr val="tx1"/>
                </a:solidFill>
              </a:rPr>
              <a:t>Run</a:t>
            </a:r>
          </a:p>
          <a:p>
            <a:r>
              <a:rPr sz="1600" b="1" dirty="0">
                <a:solidFill>
                  <a:schemeClr val="tx1"/>
                </a:solidFill>
              </a:rPr>
              <a:t>Terrain/Lighting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4937760"/>
            <a:ext cx="1737360" cy="914400"/>
          </a:xfrm>
          <a:prstGeom prst="roundRect">
            <a:avLst/>
          </a:prstGeom>
          <a:solidFill>
            <a:srgbClr val="E6F0FF"/>
          </a:solidFill>
          <a:ln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chemeClr val="tx1"/>
                </a:solidFill>
              </a:rPr>
              <a:t>Compare</a:t>
            </a:r>
          </a:p>
          <a:p>
            <a:r>
              <a:rPr sz="1600" b="1">
                <a:solidFill>
                  <a:schemeClr val="tx1"/>
                </a:solidFill>
              </a:rPr>
              <a:t>Candidates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4937760"/>
            <a:ext cx="1737360" cy="914400"/>
          </a:xfrm>
          <a:prstGeom prst="roundRect">
            <a:avLst/>
          </a:prstGeom>
          <a:solidFill>
            <a:srgbClr val="E6F0FF"/>
          </a:solidFill>
          <a:ln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chemeClr val="tx1"/>
                </a:solidFill>
              </a:rPr>
              <a:t>Refine</a:t>
            </a:r>
          </a:p>
          <a:p>
            <a:r>
              <a:rPr sz="1600" b="1">
                <a:solidFill>
                  <a:schemeClr val="tx1"/>
                </a:solidFill>
              </a:rPr>
              <a:t>Decision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5394960"/>
            <a:ext cx="36576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89120" y="5394960"/>
            <a:ext cx="36576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5394960"/>
            <a:ext cx="36576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Team Produces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Ranked candidate regions with supporting evidence layers.</a:t>
            </a:r>
          </a:p>
          <a:p>
            <a:pPr>
              <a:defRPr sz="2000"/>
            </a:pPr>
            <a:r>
              <a:t>Saved outputs for review and repeat analysis.</a:t>
            </a:r>
          </a:p>
          <a:p>
            <a:pPr>
              <a:defRPr sz="2000"/>
            </a:pPr>
            <a:r>
              <a:t>Clear rationale for why one region is preferred.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572000"/>
            <a:ext cx="78638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/>
            </a:pPr>
            <a:r>
              <a:t>IMAGE PLACEHOLDER: Example output panel/map with selected region and supporting layers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Capabilities Used in the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Scenario-based organization of data and outputs.</a:t>
            </a:r>
          </a:p>
          <a:p>
            <a:pPr>
              <a:defRPr sz="2000"/>
            </a:pPr>
            <a:r>
              <a:t>Terrain/lighting analysis jobs with progress and cancellation.</a:t>
            </a:r>
          </a:p>
          <a:p>
            <a:pPr>
              <a:defRPr sz="2000"/>
            </a:pPr>
            <a:r>
              <a:t>Raster math and transforms for custom comparisons.</a:t>
            </a:r>
          </a:p>
          <a:p>
            <a:pPr>
              <a:defRPr sz="2000"/>
            </a:pPr>
            <a:r>
              <a:t>Moon Trek layer discovery and overlay support.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5029200"/>
            <a:ext cx="1828800" cy="822960"/>
          </a:xfrm>
          <a:prstGeom prst="roundRect">
            <a:avLst/>
          </a:prstGeom>
          <a:solidFill>
            <a:srgbClr val="DCF5E1"/>
          </a:solidFill>
          <a:ln>
            <a:solidFill>
              <a:srgbClr val="3C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Scenario</a:t>
            </a:r>
          </a:p>
          <a:p>
            <a:r>
              <a:rPr sz="2000" b="1">
                <a:solidFill>
                  <a:schemeClr val="tx1"/>
                </a:solidFill>
              </a:rPr>
              <a:t>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480560"/>
            <a:ext cx="1920240" cy="822960"/>
          </a:xfrm>
          <a:prstGeom prst="roundRect">
            <a:avLst/>
          </a:prstGeom>
          <a:solidFill>
            <a:srgbClr val="EBEBFA"/>
          </a:solidFill>
          <a:ln>
            <a:solidFill>
              <a:srgbClr val="5F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0">
                <a:solidFill>
                  <a:schemeClr val="tx1"/>
                </a:solidFill>
              </a:rPr>
              <a:t>Data</a:t>
            </a:r>
          </a:p>
          <a:p>
            <a:r>
              <a:rPr sz="2000" b="0">
                <a:solidFill>
                  <a:schemeClr val="tx1"/>
                </a:solidFill>
              </a:rPr>
              <a:t>Organization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4892040"/>
            <a:ext cx="822960" cy="54864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5669280"/>
            <a:ext cx="1920240" cy="822960"/>
          </a:xfrm>
          <a:prstGeom prst="roundRect">
            <a:avLst/>
          </a:prstGeom>
          <a:solidFill>
            <a:srgbClr val="EBEBFA"/>
          </a:solidFill>
          <a:ln>
            <a:solidFill>
              <a:srgbClr val="5F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0">
                <a:solidFill>
                  <a:schemeClr val="tx1"/>
                </a:solidFill>
              </a:rPr>
              <a:t>Terrain/</a:t>
            </a:r>
          </a:p>
          <a:p>
            <a:r>
              <a:rPr sz="2000" b="0">
                <a:solidFill>
                  <a:schemeClr val="tx1"/>
                </a:solidFill>
              </a:rPr>
              <a:t>Lighting Jobs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560320" y="5440680"/>
            <a:ext cx="822960" cy="64008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17920" y="4480560"/>
            <a:ext cx="1920240" cy="822960"/>
          </a:xfrm>
          <a:prstGeom prst="roundRect">
            <a:avLst/>
          </a:prstGeom>
          <a:solidFill>
            <a:srgbClr val="EBEBFA"/>
          </a:solidFill>
          <a:ln>
            <a:solidFill>
              <a:srgbClr val="5F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0">
                <a:solidFill>
                  <a:schemeClr val="tx1"/>
                </a:solidFill>
              </a:rPr>
              <a:t>Raster Math</a:t>
            </a:r>
          </a:p>
          <a:p>
            <a:r>
              <a:rPr sz="2000" b="0">
                <a:solidFill>
                  <a:schemeClr val="tx1"/>
                </a:solidFill>
              </a:rPr>
              <a:t>&amp; Transforms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212080" y="4892040"/>
            <a:ext cx="1005840" cy="54864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7920" y="5669280"/>
            <a:ext cx="1920240" cy="822960"/>
          </a:xfrm>
          <a:prstGeom prst="roundRect">
            <a:avLst/>
          </a:prstGeom>
          <a:solidFill>
            <a:srgbClr val="EBEBFA"/>
          </a:solidFill>
          <a:ln>
            <a:solidFill>
              <a:srgbClr val="5F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0">
                <a:solidFill>
                  <a:schemeClr val="tx1"/>
                </a:solidFill>
              </a:rPr>
              <a:t>Moon Trek</a:t>
            </a:r>
          </a:p>
          <a:p>
            <a:r>
              <a:rPr sz="2000" b="0">
                <a:solidFill>
                  <a:schemeClr val="tx1"/>
                </a:solidFill>
              </a:rPr>
              <a:t>Overlays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5212080" y="5440680"/>
            <a:ext cx="1005840" cy="64008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Assistant Support in Analyst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Helps users run analysis steps from plain-language requests.</a:t>
            </a:r>
          </a:p>
          <a:p>
            <a:pPr>
              <a:defRPr sz="2000"/>
            </a:pPr>
            <a:r>
              <a:t>Uses guarded execution for actions that change project state.</a:t>
            </a:r>
          </a:p>
          <a:p>
            <a:pPr>
              <a:defRPr sz="2000"/>
            </a:pPr>
            <a:r>
              <a:t>Returns structured outputs (tables, images, plots) for quick interpretation.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5029200"/>
            <a:ext cx="2011680" cy="914400"/>
          </a:xfrm>
          <a:prstGeom prst="roundRect">
            <a:avLst/>
          </a:prstGeom>
          <a:solidFill>
            <a:srgbClr val="F5EBEB"/>
          </a:solidFill>
          <a:ln>
            <a:solidFill>
              <a:srgbClr val="8C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User</a:t>
            </a:r>
          </a:p>
          <a:p>
            <a:r>
              <a:rPr sz="2000" b="1">
                <a:solidFill>
                  <a:schemeClr val="tx1"/>
                </a:solidFill>
              </a:rPr>
              <a:t>Request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5029200"/>
            <a:ext cx="2011680" cy="914400"/>
          </a:xfrm>
          <a:prstGeom prst="roundRect">
            <a:avLst/>
          </a:prstGeom>
          <a:solidFill>
            <a:srgbClr val="EBF5FF"/>
          </a:solidFill>
          <a:ln>
            <a:solidFill>
              <a:srgbClr val="466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Assistant</a:t>
            </a:r>
          </a:p>
          <a:p>
            <a:r>
              <a:rPr sz="2000" b="1">
                <a:solidFill>
                  <a:schemeClr val="tx1"/>
                </a:solidFill>
              </a:rPr>
              <a:t>Guidance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5029200"/>
            <a:ext cx="2011680" cy="914400"/>
          </a:xfrm>
          <a:prstGeom prst="roundRect">
            <a:avLst/>
          </a:prstGeom>
          <a:solidFill>
            <a:srgbClr val="EBFAEB"/>
          </a:solidFill>
          <a:ln>
            <a:solidFill>
              <a:srgbClr val="46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Analysis</a:t>
            </a:r>
          </a:p>
          <a:p>
            <a:r>
              <a:rPr sz="2000" b="1">
                <a:solidFill>
                  <a:schemeClr val="tx1"/>
                </a:solidFill>
              </a:rPr>
              <a:t>Results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5486400"/>
            <a:ext cx="54864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212080" y="5486400"/>
            <a:ext cx="54864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6217920"/>
            <a:ext cx="2560320" cy="640080"/>
          </a:xfrm>
          <a:prstGeom prst="roundRect">
            <a:avLst/>
          </a:prstGeom>
          <a:solidFill>
            <a:srgbClr val="FAF5DC"/>
          </a:solidFill>
          <a:ln>
            <a:solidFill>
              <a:srgbClr val="A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0">
                <a:solidFill>
                  <a:schemeClr val="tx1"/>
                </a:solidFill>
              </a:rPr>
              <a:t>Guarded actions + traceable outputs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That Enables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Central backend manages scenarios, jobs, and shared state.</a:t>
            </a:r>
          </a:p>
          <a:p>
            <a:pPr>
              <a:defRPr sz="2000"/>
            </a:pPr>
            <a:r>
              <a:t>Dedicated compute path handles heavy terrain/lighting calculations.</a:t>
            </a:r>
          </a:p>
          <a:p>
            <a:pPr>
              <a:defRPr sz="2000"/>
            </a:pPr>
            <a:r>
              <a:t>Notebook workflows and interactive workspace use the same backend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846320"/>
            <a:ext cx="2103120" cy="914400"/>
          </a:xfrm>
          <a:prstGeom prst="roundRect">
            <a:avLst/>
          </a:prstGeom>
          <a:solidFill>
            <a:srgbClr val="E6F0FF"/>
          </a:solidFill>
          <a:ln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Workspace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4846320"/>
            <a:ext cx="2377440" cy="914400"/>
          </a:xfrm>
          <a:prstGeom prst="roundRect">
            <a:avLst/>
          </a:prstGeom>
          <a:solidFill>
            <a:srgbClr val="DCF5E1"/>
          </a:solidFill>
          <a:ln>
            <a:solidFill>
              <a:srgbClr val="3C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Backend</a:t>
            </a:r>
          </a:p>
          <a:p>
            <a:r>
              <a:rPr sz="2000" b="1">
                <a:solidFill>
                  <a:schemeClr val="tx1"/>
                </a:solidFill>
              </a:rPr>
              <a:t>Control Plane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4389120"/>
            <a:ext cx="2194560" cy="822960"/>
          </a:xfrm>
          <a:prstGeom prst="roundRect">
            <a:avLst/>
          </a:prstGeom>
          <a:solidFill>
            <a:srgbClr val="F5EBFF"/>
          </a:solidFill>
          <a:ln>
            <a:solidFill>
              <a:srgbClr val="784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Compute</a:t>
            </a:r>
          </a:p>
          <a:p>
            <a:r>
              <a:rPr sz="2000" b="1">
                <a:solidFill>
                  <a:schemeClr val="tx1"/>
                </a:solidFill>
              </a:rPr>
              <a:t>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5486400"/>
            <a:ext cx="2194560" cy="822960"/>
          </a:xfrm>
          <a:prstGeom prst="roundRect">
            <a:avLst/>
          </a:prstGeom>
          <a:solidFill>
            <a:srgbClr val="F5EBFF"/>
          </a:solidFill>
          <a:ln>
            <a:solidFill>
              <a:srgbClr val="784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Notebook</a:t>
            </a:r>
          </a:p>
          <a:p>
            <a:r>
              <a:rPr sz="2000" b="1">
                <a:solidFill>
                  <a:schemeClr val="tx1"/>
                </a:solidFill>
              </a:rPr>
              <a:t>Workflows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5303520"/>
            <a:ext cx="45720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486400" y="4754880"/>
            <a:ext cx="457200" cy="36576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0" y="5486400"/>
            <a:ext cx="457200" cy="36576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Ready and What Needs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Core analyst workflow is usable today for scenario-driven analysis.</a:t>
            </a:r>
          </a:p>
          <a:p>
            <a:pPr>
              <a:defRPr sz="2000"/>
            </a:pPr>
            <a:r>
              <a:t>Known gaps are identified and actively managed (event delivery scale, cache persistence, compute isolation refinements, horizon robustness).</a:t>
            </a:r>
          </a:p>
          <a:p>
            <a:pPr>
              <a:defRPr sz="2000"/>
            </a:pPr>
            <a:r>
              <a:t>Near-term focus is reliability hardening and validation depth.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1682"/>
            <a:ext cx="2377440" cy="822960"/>
          </a:xfrm>
          <a:prstGeom prst="roundRect">
            <a:avLst/>
          </a:prstGeom>
          <a:solidFill>
            <a:srgbClr val="E1F5E1"/>
          </a:solidFill>
          <a:ln>
            <a:solidFill>
              <a:srgbClr val="3C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Ready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571682"/>
            <a:ext cx="2377440" cy="822960"/>
          </a:xfrm>
          <a:prstGeom prst="roundRect">
            <a:avLst/>
          </a:prstGeom>
          <a:solidFill>
            <a:srgbClr val="FAF5DC"/>
          </a:solidFill>
          <a:ln>
            <a:solidFill>
              <a:srgbClr val="A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In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4571682"/>
            <a:ext cx="2377440" cy="822960"/>
          </a:xfrm>
          <a:prstGeom prst="roundRect">
            <a:avLst/>
          </a:prstGeom>
          <a:solidFill>
            <a:srgbClr val="F5E6E6"/>
          </a:solidFill>
          <a:ln>
            <a:solidFill>
              <a:srgbClr val="96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Hardening Focus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77522"/>
            <a:ext cx="2377440" cy="1005840"/>
          </a:xfrm>
          <a:prstGeom prst="roundRect">
            <a:avLst/>
          </a:prstGeom>
          <a:solidFill>
            <a:srgbClr val="F0FCF0"/>
          </a:solidFill>
          <a:ln>
            <a:solidFill>
              <a:srgbClr val="50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0">
                <a:solidFill>
                  <a:schemeClr val="tx1"/>
                </a:solidFill>
              </a:rPr>
              <a:t>Usable analyst</a:t>
            </a:r>
          </a:p>
          <a:p>
            <a:r>
              <a:rPr b="0">
                <a:solidFill>
                  <a:schemeClr val="tx1"/>
                </a:solidFill>
              </a:rPr>
              <a:t>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577522"/>
            <a:ext cx="2377440" cy="1005840"/>
          </a:xfrm>
          <a:prstGeom prst="roundRect">
            <a:avLst/>
          </a:prstGeom>
          <a:solidFill>
            <a:srgbClr val="FFFAE6"/>
          </a:solidFill>
          <a:ln>
            <a:solidFill>
              <a:srgbClr val="AA8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0">
                <a:solidFill>
                  <a:schemeClr val="tx1"/>
                </a:solidFill>
              </a:rPr>
              <a:t>Event scale +</a:t>
            </a:r>
          </a:p>
          <a:p>
            <a:r>
              <a:rPr b="0">
                <a:solidFill>
                  <a:schemeClr val="tx1"/>
                </a:solidFill>
              </a:rPr>
              <a:t>cache persistence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5577522"/>
            <a:ext cx="2377440" cy="1005840"/>
          </a:xfrm>
          <a:prstGeom prst="roundRect">
            <a:avLst/>
          </a:prstGeom>
          <a:solidFill>
            <a:srgbClr val="FFF0F0"/>
          </a:solidFill>
          <a:ln>
            <a:solidFill>
              <a:srgbClr val="A5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0">
                <a:solidFill>
                  <a:schemeClr val="tx1"/>
                </a:solidFill>
              </a:rPr>
              <a:t>Compute isolation +</a:t>
            </a:r>
          </a:p>
          <a:p>
            <a:r>
              <a:rPr b="0">
                <a:solidFill>
                  <a:schemeClr val="tx1"/>
                </a:solidFill>
              </a:rPr>
              <a:t>horizon robustness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 Opportunities with MSFC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Define acceptance criteria for terrain and illumination outputs.</a:t>
            </a:r>
          </a:p>
          <a:p>
            <a:pPr>
              <a:defRPr sz="2000"/>
            </a:pPr>
            <a:r>
              <a:t>Prioritize benchmark datasets and representative mission scenarios.</a:t>
            </a:r>
          </a:p>
          <a:p>
            <a:pPr>
              <a:defRPr sz="2000"/>
            </a:pPr>
            <a:r>
              <a:t>Evaluate assistant-supported workflows on real analyst tasks.</a:t>
            </a:r>
          </a:p>
          <a:p>
            <a:pPr>
              <a:defRPr sz="2000"/>
            </a:pPr>
            <a:r>
              <a:t>Align on pilot studies and success metrics.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029200"/>
            <a:ext cx="2194560" cy="822960"/>
          </a:xfrm>
          <a:prstGeom prst="roundRect">
            <a:avLst/>
          </a:prstGeom>
          <a:solidFill>
            <a:srgbClr val="EBF5FF"/>
          </a:solidFill>
          <a:ln>
            <a:solidFill>
              <a:srgbClr val="466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Month 1</a:t>
            </a:r>
          </a:p>
          <a:p>
            <a:r>
              <a:rPr sz="2000" b="1">
                <a:solidFill>
                  <a:schemeClr val="tx1"/>
                </a:solidFill>
              </a:rPr>
              <a:t>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5029200"/>
            <a:ext cx="2194560" cy="822960"/>
          </a:xfrm>
          <a:prstGeom prst="roundRect">
            <a:avLst/>
          </a:prstGeom>
          <a:solidFill>
            <a:srgbClr val="EBF5FF"/>
          </a:solidFill>
          <a:ln>
            <a:solidFill>
              <a:srgbClr val="466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Month 2</a:t>
            </a:r>
          </a:p>
          <a:p>
            <a:r>
              <a:rPr sz="2000" b="1">
                <a:solidFill>
                  <a:schemeClr val="tx1"/>
                </a:solidFill>
              </a:rPr>
              <a:t>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5029200"/>
            <a:ext cx="2194560" cy="822960"/>
          </a:xfrm>
          <a:prstGeom prst="roundRect">
            <a:avLst/>
          </a:prstGeom>
          <a:solidFill>
            <a:srgbClr val="EBF5FF"/>
          </a:solidFill>
          <a:ln>
            <a:solidFill>
              <a:srgbClr val="466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chemeClr val="tx1"/>
                </a:solidFill>
              </a:rPr>
              <a:t>Month 3</a:t>
            </a:r>
          </a:p>
          <a:p>
            <a:r>
              <a:rPr sz="2000" b="1">
                <a:solidFill>
                  <a:schemeClr val="tx1"/>
                </a:solidFill>
              </a:rPr>
              <a:t>Pilot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5486400"/>
            <a:ext cx="36576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5486400"/>
            <a:ext cx="36576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5550</TotalTime>
  <Words>502</Words>
  <Application>Microsoft Office PowerPoint</Application>
  <PresentationFormat>On-screen Show (4:3)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Lunar Analyst for Lunar South Pole Mission Analysis</vt:lpstr>
      <vt:lpstr>Intended Users and Decision Context</vt:lpstr>
      <vt:lpstr>Scenario: Evaluating Candidate Landing Zones</vt:lpstr>
      <vt:lpstr>How the Team Works Through the Scenario</vt:lpstr>
      <vt:lpstr>What the Team Produces</vt:lpstr>
      <vt:lpstr>Capabilities Used in the Workflow</vt:lpstr>
      <vt:lpstr>Assistant Support in Analyst Work</vt:lpstr>
      <vt:lpstr>System Design That Enables Reliability</vt:lpstr>
      <vt:lpstr>What Is Ready and What Needs Hardening</vt:lpstr>
      <vt:lpstr>Collaboration Opportunities with MSFC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Mark Shirley</cp:lastModifiedBy>
  <cp:revision>4</cp:revision>
  <dcterms:created xsi:type="dcterms:W3CDTF">2013-01-27T09:14:16Z</dcterms:created>
  <dcterms:modified xsi:type="dcterms:W3CDTF">2026-03-24T17:39:25Z</dcterms:modified>
  <cp:category/>
</cp:coreProperties>
</file>